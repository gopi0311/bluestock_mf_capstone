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>
                <a:solidFill>
                  <a:srgbClr val="1B4F9B"/>
                </a:solidFill>
              </a:rPr>
              <a:t>Bluestock Fintech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Mutual Fund Analytics Platform</a:t>
            </a:r>
          </a:p>
          <a:p>
            <a:r>
              <a:t>Capstone Project |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B4F9B"/>
                </a:solidFill>
              </a:defRPr>
            </a:pPr>
            <a:r>
              <a:t>Upputholla Gopi | Data Analyst Intern | VVIT Guntur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B4F9B"/>
                </a:solidFill>
              </a:rP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PROBLEMS:</a:t>
            </a:r>
          </a:p>
          <a:p>
            <a:r>
              <a:t>• Data Fragmentation — NAV, AUM, SIP data in different formats</a:t>
            </a:r>
          </a:p>
          <a:p>
            <a:r>
              <a:t>• No unified platform for risk-adjusted fund comparison</a:t>
            </a:r>
          </a:p>
          <a:p>
            <a:r>
              <a:t>• Retail investors cannot track benchmark performance</a:t>
            </a:r>
          </a:p>
          <a:p>
            <a:r>
              <a:t>• Static PDF reports — no real-time insights</a:t>
            </a:r>
          </a:p>
          <a:p/>
          <a:p>
            <a:r>
              <a:t>OBJECTIVES:</a:t>
            </a:r>
          </a:p>
          <a:p>
            <a:r>
              <a:t>• Build automated ETL pipeline from AMFI public data</a:t>
            </a:r>
          </a:p>
          <a:p>
            <a:r>
              <a:t>• Design normalized SQL database (star schema)</a:t>
            </a:r>
          </a:p>
          <a:p>
            <a:r>
              <a:t>• Compute Sharpe, Alpha, Beta, VaR for 40 funds</a:t>
            </a:r>
          </a:p>
          <a:p>
            <a:r>
              <a:t>• Build interactive Power BI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B4F9B"/>
                </a:solidFill>
              </a:rPr>
              <a:t>Data Sources &amp;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SOURCES:</a:t>
            </a:r>
          </a:p>
          <a:p>
            <a:r>
              <a:t>• AMFI India — NAV, AUM, SIP, Folio data</a:t>
            </a:r>
          </a:p>
          <a:p>
            <a:r>
              <a:t>• mfapi.in — Live NAV API (no auth required)</a:t>
            </a:r>
          </a:p>
          <a:p>
            <a:r>
              <a:t>• NSE/BSE — Benchmark index prices</a:t>
            </a:r>
          </a:p>
          <a:p/>
          <a:p>
            <a:r>
              <a:t>SCALE:</a:t>
            </a:r>
          </a:p>
          <a:p>
            <a:r>
              <a:t>• 40 Mutual Fund Schemes across 10 AMCs</a:t>
            </a:r>
          </a:p>
          <a:p>
            <a:r>
              <a:t>• 46,000+ Daily NAV records (2022-2026)</a:t>
            </a:r>
          </a:p>
          <a:p>
            <a:r>
              <a:t>• 32,000+ Investor Transactions</a:t>
            </a:r>
          </a:p>
          <a:p>
            <a:r>
              <a:t>• 8,050 Benchmark Index records</a:t>
            </a:r>
          </a:p>
          <a:p>
            <a:r>
              <a:t>• Total: 87,000+ rows of financial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B4F9B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ETL PIPELINE:</a:t>
            </a:r>
          </a:p>
          <a:p/>
          <a:p>
            <a:r>
              <a:t>EXTRACT → AMFI APIs, mfapi.in, CSV datasets</a:t>
            </a:r>
          </a:p>
          <a:p>
            <a:r>
              <a:t>      ↓</a:t>
            </a:r>
          </a:p>
          <a:p>
            <a:r>
              <a:t>TRANSFORM → Python/Pandas: clean, validate, compute metrics</a:t>
            </a:r>
          </a:p>
          <a:p>
            <a:r>
              <a:t>      ↓</a:t>
            </a:r>
          </a:p>
          <a:p>
            <a:r>
              <a:t>LOAD → SQLite database (5-table star schema)</a:t>
            </a:r>
          </a:p>
          <a:p>
            <a:r>
              <a:t>      ↓</a:t>
            </a:r>
          </a:p>
          <a:p>
            <a:r>
              <a:t>ANALYSE → Jupyter notebooks: EDA, performance metrics</a:t>
            </a:r>
          </a:p>
          <a:p>
            <a:r>
              <a:t>      ↓</a:t>
            </a:r>
          </a:p>
          <a:p>
            <a:r>
              <a:t>VISUALISE → Power BI: 4-page interactive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B4F9B"/>
                </a:solidFill>
              </a:rPr>
              <a:t>EDA Highlights — Market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FINDINGS:</a:t>
            </a:r>
          </a:p>
          <a:p/>
          <a:p>
            <a:r>
              <a:t>📈 NAV Trend: All 40 funds grew consistently 2022-2026</a:t>
            </a:r>
          </a:p>
          <a:p>
            <a:r>
              <a:t>   Strong 2023 bull run, minor 2024 corrections</a:t>
            </a:r>
          </a:p>
          <a:p/>
          <a:p>
            <a:r>
              <a:t>🏦 SBI Dominance: Rs.12.5 Lakh Crore AUM</a:t>
            </a:r>
          </a:p>
          <a:p>
            <a:r>
              <a:t>   Nearly 2x the second-largest AMC (ICICI Prudential)</a:t>
            </a:r>
          </a:p>
          <a:p/>
          <a:p>
            <a:r>
              <a:t>💰 SIP All-time High: Rs.31,002 Crore in Dec 2025</a:t>
            </a:r>
          </a:p>
          <a:p>
            <a:r>
              <a:t>   Reflects India's growing retail investment culture</a:t>
            </a:r>
          </a:p>
          <a:p/>
          <a:p>
            <a:r>
              <a:t>📊 Folio Growth: 13.26 Cr → 26.12 Cr (97% growth in 4 years)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B4F9B"/>
                </a:solidFill>
              </a:rPr>
              <a:t>EDA Highlights — Investor Behaviour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INVESTOR INSIGHTS:</a:t>
            </a:r>
          </a:p>
          <a:p/>
          <a:p>
            <a:r>
              <a:t>👥 Demographics: 26-35 age group = largest investor segment</a:t>
            </a:r>
          </a:p>
          <a:p>
            <a:r>
              <a:t>   Young professionals driving MF growth in India</a:t>
            </a:r>
          </a:p>
          <a:p/>
          <a:p>
            <a:r>
              <a:t>🗺️ Geography: Maharashtra &amp; Karnataka lead investments</a:t>
            </a:r>
          </a:p>
          <a:p>
            <a:r>
              <a:t>   T30 cities = 70% of total AUM</a:t>
            </a:r>
          </a:p>
          <a:p/>
          <a:p>
            <a:r>
              <a:t>⚖️ Gender Gap: Male 65% vs Female 35% investors</a:t>
            </a:r>
          </a:p>
          <a:p>
            <a:r>
              <a:t>   Opportunity for women-focused MF campaigns</a:t>
            </a:r>
          </a:p>
          <a:p/>
          <a:p>
            <a:r>
              <a:t>🏙️ B30 Growth: Beyond Top-30 cities growing faster in SIPs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B4F9B"/>
                </a:solidFill>
              </a:rPr>
              <a:t>Performance Metrics —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COMPUTED FOR ALL 40 FUNDS:</a:t>
            </a:r>
          </a:p>
          <a:p/>
          <a:p>
            <a:r>
              <a:t>• CAGR (1yr, 3yr, 5yr) — Annualised compound returns</a:t>
            </a:r>
          </a:p>
          <a:p>
            <a:r>
              <a:t>• Sharpe Ratio — Risk-adjusted return vs RBI repo rate (6.5%)</a:t>
            </a:r>
          </a:p>
          <a:p>
            <a:r>
              <a:t>• Sortino Ratio — Penalises only downside volatility</a:t>
            </a:r>
          </a:p>
          <a:p>
            <a:r>
              <a:t>• Alpha &amp; Beta — OLS regression vs Nifty 100 benchmark</a:t>
            </a:r>
          </a:p>
          <a:p>
            <a:r>
              <a:t>• Max Drawdown — Worst peak-to-trough decline</a:t>
            </a:r>
          </a:p>
          <a:p>
            <a:r>
              <a:t>• VaR (95%) — Daily loss threshold at 95% confidence</a:t>
            </a:r>
          </a:p>
          <a:p>
            <a:r>
              <a:t>• CVaR — Expected loss beyond VaR threshold</a:t>
            </a:r>
          </a:p>
          <a:p>
            <a:r>
              <a:t>• Tracking Error — Std dev of fund vs benchmark returns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B4F9B"/>
                </a:solidFill>
              </a:rPr>
              <a:t>Performance Analytics —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 SCORECARD (Composite 0-100 Score):</a:t>
            </a:r>
          </a:p>
          <a:p>
            <a:r>
              <a:t>Weighted: 30% Return + 25% Sharpe + 20% Alpha + 15% Expense + 10% Max DD</a:t>
            </a:r>
          </a:p>
          <a:p/>
          <a:p>
            <a:r>
              <a:t>TOP FINDINGS:</a:t>
            </a:r>
          </a:p>
          <a:p>
            <a:r>
              <a:t>• Funds with Sharpe &gt; 1 consistently outperform benchmark</a:t>
            </a:r>
          </a:p>
          <a:p>
            <a:r>
              <a:t>• Large cap funds show Beta close to 1.0 (market-tracking)</a:t>
            </a:r>
          </a:p>
          <a:p>
            <a:r>
              <a:t>• Small/Mid cap funds have higher Alpha but higher VaR</a:t>
            </a:r>
          </a:p>
          <a:p>
            <a:r>
              <a:t>• Liquid funds show lowest VaR — best for capital preservation</a:t>
            </a:r>
          </a:p>
          <a:p>
            <a:r>
              <a:t>• High HHI funds concentrated in Consumer Goods &amp; IT sectors</a:t>
            </a:r>
          </a:p>
          <a:p/>
          <a:p>
            <a:r>
              <a:t>RISK INSIGHTS:</a:t>
            </a:r>
          </a:p>
          <a:p>
            <a:r>
              <a:t>• Rolling Sharpe declined in 2024 — market-wide risk increase</a:t>
            </a:r>
          </a:p>
          <a:p>
            <a:r>
              <a:t>• At-risk SIP investors (gap &gt; 35 days) need re-engagement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B4F9B"/>
                </a:solidFill>
              </a:rPr>
              <a:t>Power BI Dashboard — Pages 1 &amp;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PAGE 1 — INDUSTRY OVERVIEW:</a:t>
            </a:r>
          </a:p>
          <a:p>
            <a:r>
              <a:t>• KPI Cards: Total AUM, SIP Inflow, Schemes, Folios</a:t>
            </a:r>
          </a:p>
          <a:p>
            <a:r>
              <a:t>• Bar Chart: AUM by Fund House (SBI dominance visible)</a:t>
            </a:r>
          </a:p>
          <a:p>
            <a:r>
              <a:t>• Line Chart: Monthly SIP Inflow Trend 2022-2025</a:t>
            </a:r>
          </a:p>
          <a:p>
            <a:r>
              <a:t>• Slicer: Fund Category filter</a:t>
            </a:r>
          </a:p>
          <a:p/>
          <a:p>
            <a:r>
              <a:t>PAGE 2 — FUND PERFORMANCE:</a:t>
            </a:r>
          </a:p>
          <a:p>
            <a:r>
              <a:t>• Scatter Plot: Return vs Risk (daily_return vs NAV)</a:t>
            </a:r>
          </a:p>
          <a:p>
            <a:r>
              <a:t>• Fund Scorecard Table: sortable by all metrics</a:t>
            </a:r>
          </a:p>
          <a:p>
            <a:r>
              <a:t>• Fund House Slicer: filter by AMC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B4F9B"/>
                </a:solidFill>
              </a:rPr>
              <a:t>Power BI Dashboard — Pages 3 &amp;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PAGE 3 — INVESTOR ANALYTICS:</a:t>
            </a:r>
          </a:p>
          <a:p>
            <a:r>
              <a:t>• Bar Chart: Transaction Amount by State</a:t>
            </a:r>
          </a:p>
          <a:p>
            <a:r>
              <a:t>• Donut Chart: SIP vs Lumpsum vs Redemption split</a:t>
            </a:r>
          </a:p>
          <a:p>
            <a:r>
              <a:t>• Bar Chart: Age Group vs Investment Amount</a:t>
            </a:r>
          </a:p>
          <a:p>
            <a:r>
              <a:t>• Monthly Transaction Volume Line Chart</a:t>
            </a:r>
          </a:p>
          <a:p>
            <a:r>
              <a:t>• Slicers: State, City Tier (T30/B30)</a:t>
            </a:r>
          </a:p>
          <a:p/>
          <a:p>
            <a:r>
              <a:t>PAGE 4 — SIP &amp; MARKET TRENDS:</a:t>
            </a:r>
          </a:p>
          <a:p>
            <a:r>
              <a:t>• SIP Inflow Monthly Trend</a:t>
            </a:r>
          </a:p>
          <a:p>
            <a:r>
              <a:t>• Category Inflows Bar Chart</a:t>
            </a:r>
          </a:p>
          <a:p>
            <a:r>
              <a:t>• KPI: Active SIP Accounts, SIP AUM</a:t>
            </a:r>
          </a:p>
          <a:p>
            <a:r>
              <a:t>• Month Slicer for time filtering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B4F9B"/>
                </a:solidFill>
              </a:rPr>
              <a:t>Key Findings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FINDINGS:</a:t>
            </a:r>
          </a:p>
          <a:p>
            <a:r>
              <a:t>1. SBI leads industry with Rs.12.5L Cr AUM</a:t>
            </a:r>
          </a:p>
          <a:p>
            <a:r>
              <a:t>2. SIP culture growing — Rs.31,002 Cr monthly high</a:t>
            </a:r>
          </a:p>
          <a:p>
            <a:r>
              <a:t>3. Young investors (26-35) driving growth</a:t>
            </a:r>
          </a:p>
          <a:p>
            <a:r>
              <a:t>4. Large cap funds best risk-adjusted returns</a:t>
            </a:r>
          </a:p>
          <a:p>
            <a:r>
              <a:t>5. B30 cities — untapped growth opportunity</a:t>
            </a:r>
          </a:p>
          <a:p/>
          <a:p>
            <a:r>
              <a:t>RECOMMENDATIONS:</a:t>
            </a:r>
          </a:p>
          <a:p>
            <a:r>
              <a:t>• Low risk investors → Liquid/Short-term Debt funds</a:t>
            </a:r>
          </a:p>
          <a:p>
            <a:r>
              <a:t>• Moderate risk → Large Cap with Sharpe &gt; 1</a:t>
            </a:r>
          </a:p>
          <a:p>
            <a:r>
              <a:t>• High risk → Mid/Small Cap with monitored drawdown</a:t>
            </a:r>
          </a:p>
          <a:p>
            <a:r>
              <a:t>• AMCs should target B30 cities for SIP campaigns</a:t>
            </a:r>
          </a:p>
          <a:p>
            <a:r>
              <a:t>• Re-engage at-risk SIP investors (gap &gt; 35 days)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1B4F9B"/>
                </a:solidFill>
              </a:rP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Upputholla Gopi</a:t>
            </a:r>
          </a:p>
          <a:p>
            <a:r>
              <a:t>Data Analyst Intern — Bluestock Fintech</a:t>
            </a:r>
          </a:p>
          <a:p>
            <a:r>
              <a:t>VVIT, Guntur | June 2026</a:t>
            </a:r>
          </a:p>
          <a:p>
            <a:r>
              <a:t>GitHub: github.com/Gopi0311/bluestock_mf_capstone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