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BD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7912C2-A8B3-4C64-A4D9-A7AAB02B9A48}" v="141" dt="2026-06-10T04:51:35.4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948" autoAdjust="0"/>
  </p:normalViewPr>
  <p:slideViewPr>
    <p:cSldViewPr snapToGrid="0" snapToObjects="1">
      <p:cViewPr varScale="1">
        <p:scale>
          <a:sx n="74" d="100"/>
          <a:sy n="74" d="100"/>
        </p:scale>
        <p:origin x="1013" y="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opi U" userId="4820542927acb1bf" providerId="LiveId" clId="{172478D8-5494-471C-B60C-DD487D7977DB}"/>
    <pc:docChg chg="undo custSel modSld modMainMaster">
      <pc:chgData name="Gopi U" userId="4820542927acb1bf" providerId="LiveId" clId="{172478D8-5494-471C-B60C-DD487D7977DB}" dt="2026-06-10T04:56:31.713" v="645" actId="1076"/>
      <pc:docMkLst>
        <pc:docMk/>
      </pc:docMkLst>
      <pc:sldChg chg="addSp delSp modSp mod setBg">
        <pc:chgData name="Gopi U" userId="4820542927acb1bf" providerId="LiveId" clId="{172478D8-5494-471C-B60C-DD487D7977DB}" dt="2026-06-10T04:56:31.713" v="645" actId="1076"/>
        <pc:sldMkLst>
          <pc:docMk/>
          <pc:sldMk cId="0" sldId="256"/>
        </pc:sldMkLst>
        <pc:spChg chg="mod">
          <ac:chgData name="Gopi U" userId="4820542927acb1bf" providerId="LiveId" clId="{172478D8-5494-471C-B60C-DD487D7977DB}" dt="2026-06-10T04:32:20.641" v="291" actId="122"/>
          <ac:spMkLst>
            <pc:docMk/>
            <pc:sldMk cId="0" sldId="256"/>
            <ac:spMk id="2" creationId="{00000000-0000-0000-0000-000000000000}"/>
          </ac:spMkLst>
        </pc:spChg>
        <pc:spChg chg="mod">
          <ac:chgData name="Gopi U" userId="4820542927acb1bf" providerId="LiveId" clId="{172478D8-5494-471C-B60C-DD487D7977DB}" dt="2026-06-10T04:32:36.640" v="294" actId="14100"/>
          <ac:spMkLst>
            <pc:docMk/>
            <pc:sldMk cId="0" sldId="256"/>
            <ac:spMk id="3" creationId="{00000000-0000-0000-0000-000000000000}"/>
          </ac:spMkLst>
        </pc:spChg>
        <pc:spChg chg="mod">
          <ac:chgData name="Gopi U" userId="4820542927acb1bf" providerId="LiveId" clId="{172478D8-5494-471C-B60C-DD487D7977DB}" dt="2026-06-10T04:33:17.137" v="295" actId="14100"/>
          <ac:spMkLst>
            <pc:docMk/>
            <pc:sldMk cId="0" sldId="256"/>
            <ac:spMk id="4" creationId="{00000000-0000-0000-0000-000000000000}"/>
          </ac:spMkLst>
        </pc:spChg>
        <pc:spChg chg="mod">
          <ac:chgData name="Gopi U" userId="4820542927acb1bf" providerId="LiveId" clId="{172478D8-5494-471C-B60C-DD487D7977DB}" dt="2026-06-10T04:23:07.722" v="208" actId="207"/>
          <ac:spMkLst>
            <pc:docMk/>
            <pc:sldMk cId="0" sldId="256"/>
            <ac:spMk id="9" creationId="{A5EB4141-B813-6F05-BAB5-AC00937A4591}"/>
          </ac:spMkLst>
        </pc:spChg>
        <pc:spChg chg="add del mod">
          <ac:chgData name="Gopi U" userId="4820542927acb1bf" providerId="LiveId" clId="{172478D8-5494-471C-B60C-DD487D7977DB}" dt="2026-06-10T04:27:53.414" v="213" actId="21"/>
          <ac:spMkLst>
            <pc:docMk/>
            <pc:sldMk cId="0" sldId="256"/>
            <ac:spMk id="10" creationId="{D12F36BB-F3FE-0DBE-7804-C25D1F132D30}"/>
          </ac:spMkLst>
        </pc:spChg>
        <pc:spChg chg="add del mod">
          <ac:chgData name="Gopi U" userId="4820542927acb1bf" providerId="LiveId" clId="{172478D8-5494-471C-B60C-DD487D7977DB}" dt="2026-06-10T04:54:25.940" v="626" actId="21"/>
          <ac:spMkLst>
            <pc:docMk/>
            <pc:sldMk cId="0" sldId="256"/>
            <ac:spMk id="12" creationId="{CCDA4B43-2A5C-6B69-D73A-28F7336F2BA0}"/>
          </ac:spMkLst>
        </pc:spChg>
        <pc:picChg chg="add del mod">
          <ac:chgData name="Gopi U" userId="4820542927acb1bf" providerId="LiveId" clId="{172478D8-5494-471C-B60C-DD487D7977DB}" dt="2026-06-10T04:54:14.447" v="625" actId="21"/>
          <ac:picMkLst>
            <pc:docMk/>
            <pc:sldMk cId="0" sldId="256"/>
            <ac:picMk id="6" creationId="{AB076379-E813-34B3-3F13-EF5F5DE44114}"/>
          </ac:picMkLst>
        </pc:picChg>
        <pc:picChg chg="add mod">
          <ac:chgData name="Gopi U" userId="4820542927acb1bf" providerId="LiveId" clId="{172478D8-5494-471C-B60C-DD487D7977DB}" dt="2026-06-10T04:56:31.713" v="645" actId="1076"/>
          <ac:picMkLst>
            <pc:docMk/>
            <pc:sldMk cId="0" sldId="256"/>
            <ac:picMk id="14" creationId="{4C2CB761-2C09-9768-EED9-B7F7BE4C4A38}"/>
          </ac:picMkLst>
        </pc:picChg>
      </pc:sldChg>
      <pc:sldChg chg="addSp modSp mod setBg">
        <pc:chgData name="Gopi U" userId="4820542927acb1bf" providerId="LiveId" clId="{172478D8-5494-471C-B60C-DD487D7977DB}" dt="2026-06-10T04:47:49.449" v="596"/>
        <pc:sldMkLst>
          <pc:docMk/>
          <pc:sldMk cId="0" sldId="257"/>
        </pc:sldMkLst>
        <pc:spChg chg="mod">
          <ac:chgData name="Gopi U" userId="4820542927acb1bf" providerId="LiveId" clId="{172478D8-5494-471C-B60C-DD487D7977DB}" dt="2026-06-10T03:54:26.767" v="5" actId="27636"/>
          <ac:spMkLst>
            <pc:docMk/>
            <pc:sldMk cId="0" sldId="257"/>
            <ac:spMk id="2" creationId="{00000000-0000-0000-0000-000000000000}"/>
          </ac:spMkLst>
        </pc:spChg>
        <pc:spChg chg="mod">
          <ac:chgData name="Gopi U" userId="4820542927acb1bf" providerId="LiveId" clId="{172478D8-5494-471C-B60C-DD487D7977DB}" dt="2026-06-10T04:14:56.065" v="180" actId="27636"/>
          <ac:spMkLst>
            <pc:docMk/>
            <pc:sldMk cId="0" sldId="257"/>
            <ac:spMk id="3" creationId="{00000000-0000-0000-0000-000000000000}"/>
          </ac:spMkLst>
        </pc:spChg>
        <pc:spChg chg="mod">
          <ac:chgData name="Gopi U" userId="4820542927acb1bf" providerId="LiveId" clId="{172478D8-5494-471C-B60C-DD487D7977DB}" dt="2026-06-10T04:34:50.786" v="304" actId="20577"/>
          <ac:spMkLst>
            <pc:docMk/>
            <pc:sldMk cId="0" sldId="257"/>
            <ac:spMk id="6" creationId="{3D4869E1-10FA-728B-2341-D90188F44235}"/>
          </ac:spMkLst>
        </pc:spChg>
        <pc:spChg chg="add mod">
          <ac:chgData name="Gopi U" userId="4820542927acb1bf" providerId="LiveId" clId="{172478D8-5494-471C-B60C-DD487D7977DB}" dt="2026-06-10T04:47:49.449" v="596"/>
          <ac:spMkLst>
            <pc:docMk/>
            <pc:sldMk cId="0" sldId="257"/>
            <ac:spMk id="7" creationId="{D687D9DF-CF9D-7453-12C7-624237032AE4}"/>
          </ac:spMkLst>
        </pc:spChg>
      </pc:sldChg>
      <pc:sldChg chg="addSp modSp mod setBg">
        <pc:chgData name="Gopi U" userId="4820542927acb1bf" providerId="LiveId" clId="{172478D8-5494-471C-B60C-DD487D7977DB}" dt="2026-06-10T04:48:11.259" v="598" actId="1076"/>
        <pc:sldMkLst>
          <pc:docMk/>
          <pc:sldMk cId="0" sldId="258"/>
        </pc:sldMkLst>
        <pc:spChg chg="mod">
          <ac:chgData name="Gopi U" userId="4820542927acb1bf" providerId="LiveId" clId="{172478D8-5494-471C-B60C-DD487D7977DB}" dt="2026-06-10T03:55:29.775" v="8" actId="14100"/>
          <ac:spMkLst>
            <pc:docMk/>
            <pc:sldMk cId="0" sldId="258"/>
            <ac:spMk id="2" creationId="{00000000-0000-0000-0000-000000000000}"/>
          </ac:spMkLst>
        </pc:spChg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58"/>
            <ac:spMk id="3" creationId="{00000000-0000-0000-0000-000000000000}"/>
          </ac:spMkLst>
        </pc:spChg>
        <pc:picChg chg="add mod">
          <ac:chgData name="Gopi U" userId="4820542927acb1bf" providerId="LiveId" clId="{172478D8-5494-471C-B60C-DD487D7977DB}" dt="2026-06-10T04:48:11.259" v="598" actId="1076"/>
          <ac:picMkLst>
            <pc:docMk/>
            <pc:sldMk cId="0" sldId="258"/>
            <ac:picMk id="6" creationId="{0887B34C-F1A2-D93B-830C-DB70EE3AEB56}"/>
          </ac:picMkLst>
        </pc:picChg>
      </pc:sldChg>
      <pc:sldChg chg="addSp modSp mod">
        <pc:chgData name="Gopi U" userId="4820542927acb1bf" providerId="LiveId" clId="{172478D8-5494-471C-B60C-DD487D7977DB}" dt="2026-06-10T04:48:22.704" v="599"/>
        <pc:sldMkLst>
          <pc:docMk/>
          <pc:sldMk cId="0" sldId="259"/>
        </pc:sldMkLst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59"/>
            <ac:spMk id="2" creationId="{00000000-0000-0000-0000-000000000000}"/>
          </ac:spMkLst>
        </pc:spChg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Gopi U" userId="4820542927acb1bf" providerId="LiveId" clId="{172478D8-5494-471C-B60C-DD487D7977DB}" dt="2026-06-10T04:48:22.704" v="599"/>
          <ac:spMkLst>
            <pc:docMk/>
            <pc:sldMk cId="0" sldId="259"/>
            <ac:spMk id="5" creationId="{0DFCA42C-65CD-7D5A-1A57-F094EB263203}"/>
          </ac:spMkLst>
        </pc:spChg>
      </pc:sldChg>
      <pc:sldChg chg="addSp modSp mod">
        <pc:chgData name="Gopi U" userId="4820542927acb1bf" providerId="LiveId" clId="{172478D8-5494-471C-B60C-DD487D7977DB}" dt="2026-06-10T04:48:28.008" v="600"/>
        <pc:sldMkLst>
          <pc:docMk/>
          <pc:sldMk cId="0" sldId="260"/>
        </pc:sldMkLst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0"/>
            <ac:spMk id="2" creationId="{00000000-0000-0000-0000-000000000000}"/>
          </ac:spMkLst>
        </pc:spChg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Gopi U" userId="4820542927acb1bf" providerId="LiveId" clId="{172478D8-5494-471C-B60C-DD487D7977DB}" dt="2026-06-10T04:48:28.008" v="600"/>
          <ac:spMkLst>
            <pc:docMk/>
            <pc:sldMk cId="0" sldId="260"/>
            <ac:spMk id="5" creationId="{0A33F8BB-6E07-DB99-DEFD-858D532397BF}"/>
          </ac:spMkLst>
        </pc:spChg>
      </pc:sldChg>
      <pc:sldChg chg="addSp modSp mod">
        <pc:chgData name="Gopi U" userId="4820542927acb1bf" providerId="LiveId" clId="{172478D8-5494-471C-B60C-DD487D7977DB}" dt="2026-06-10T04:48:33.659" v="601"/>
        <pc:sldMkLst>
          <pc:docMk/>
          <pc:sldMk cId="0" sldId="261"/>
        </pc:sldMkLst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1"/>
            <ac:spMk id="2" creationId="{00000000-0000-0000-0000-000000000000}"/>
          </ac:spMkLst>
        </pc:spChg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1"/>
            <ac:spMk id="3" creationId="{00000000-0000-0000-0000-000000000000}"/>
          </ac:spMkLst>
        </pc:spChg>
        <pc:spChg chg="add mod">
          <ac:chgData name="Gopi U" userId="4820542927acb1bf" providerId="LiveId" clId="{172478D8-5494-471C-B60C-DD487D7977DB}" dt="2026-06-10T04:48:33.659" v="601"/>
          <ac:spMkLst>
            <pc:docMk/>
            <pc:sldMk cId="0" sldId="261"/>
            <ac:spMk id="5" creationId="{84921527-8882-03E8-52F3-748F476B373F}"/>
          </ac:spMkLst>
        </pc:spChg>
      </pc:sldChg>
      <pc:sldChg chg="addSp modSp mod">
        <pc:chgData name="Gopi U" userId="4820542927acb1bf" providerId="LiveId" clId="{172478D8-5494-471C-B60C-DD487D7977DB}" dt="2026-06-10T04:48:38.378" v="602"/>
        <pc:sldMkLst>
          <pc:docMk/>
          <pc:sldMk cId="0" sldId="262"/>
        </pc:sldMkLst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2"/>
            <ac:spMk id="2" creationId="{00000000-0000-0000-0000-000000000000}"/>
          </ac:spMkLst>
        </pc:spChg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Gopi U" userId="4820542927acb1bf" providerId="LiveId" clId="{172478D8-5494-471C-B60C-DD487D7977DB}" dt="2026-06-10T04:48:38.378" v="602"/>
          <ac:spMkLst>
            <pc:docMk/>
            <pc:sldMk cId="0" sldId="262"/>
            <ac:spMk id="5" creationId="{03E9A1B8-7E84-9783-3F30-C8082519E1FA}"/>
          </ac:spMkLst>
        </pc:spChg>
      </pc:sldChg>
      <pc:sldChg chg="addSp modSp mod">
        <pc:chgData name="Gopi U" userId="4820542927acb1bf" providerId="LiveId" clId="{172478D8-5494-471C-B60C-DD487D7977DB}" dt="2026-06-10T04:48:44.321" v="603"/>
        <pc:sldMkLst>
          <pc:docMk/>
          <pc:sldMk cId="0" sldId="263"/>
        </pc:sldMkLst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3"/>
            <ac:spMk id="2" creationId="{00000000-0000-0000-0000-000000000000}"/>
          </ac:spMkLst>
        </pc:spChg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3"/>
            <ac:spMk id="3" creationId="{00000000-0000-0000-0000-000000000000}"/>
          </ac:spMkLst>
        </pc:spChg>
        <pc:spChg chg="add mod">
          <ac:chgData name="Gopi U" userId="4820542927acb1bf" providerId="LiveId" clId="{172478D8-5494-471C-B60C-DD487D7977DB}" dt="2026-06-10T04:48:44.321" v="603"/>
          <ac:spMkLst>
            <pc:docMk/>
            <pc:sldMk cId="0" sldId="263"/>
            <ac:spMk id="5" creationId="{C39B23C8-C574-5DE5-E6C9-5974CC96C89A}"/>
          </ac:spMkLst>
        </pc:spChg>
      </pc:sldChg>
      <pc:sldChg chg="addSp modSp mod">
        <pc:chgData name="Gopi U" userId="4820542927acb1bf" providerId="LiveId" clId="{172478D8-5494-471C-B60C-DD487D7977DB}" dt="2026-06-10T04:48:51.257" v="604"/>
        <pc:sldMkLst>
          <pc:docMk/>
          <pc:sldMk cId="0" sldId="264"/>
        </pc:sldMkLst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4"/>
            <ac:spMk id="2" creationId="{00000000-0000-0000-0000-000000000000}"/>
          </ac:spMkLst>
        </pc:spChg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4"/>
            <ac:spMk id="3" creationId="{00000000-0000-0000-0000-000000000000}"/>
          </ac:spMkLst>
        </pc:spChg>
        <pc:spChg chg="add mod">
          <ac:chgData name="Gopi U" userId="4820542927acb1bf" providerId="LiveId" clId="{172478D8-5494-471C-B60C-DD487D7977DB}" dt="2026-06-10T04:48:51.257" v="604"/>
          <ac:spMkLst>
            <pc:docMk/>
            <pc:sldMk cId="0" sldId="264"/>
            <ac:spMk id="5" creationId="{C2A8FC9D-06A0-8392-7CC6-49F2766A3237}"/>
          </ac:spMkLst>
        </pc:spChg>
      </pc:sldChg>
      <pc:sldChg chg="addSp modSp mod">
        <pc:chgData name="Gopi U" userId="4820542927acb1bf" providerId="LiveId" clId="{172478D8-5494-471C-B60C-DD487D7977DB}" dt="2026-06-10T04:48:55.949" v="605"/>
        <pc:sldMkLst>
          <pc:docMk/>
          <pc:sldMk cId="0" sldId="265"/>
        </pc:sldMkLst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5"/>
            <ac:spMk id="2" creationId="{00000000-0000-0000-0000-000000000000}"/>
          </ac:spMkLst>
        </pc:spChg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5"/>
            <ac:spMk id="3" creationId="{00000000-0000-0000-0000-000000000000}"/>
          </ac:spMkLst>
        </pc:spChg>
        <pc:spChg chg="add mod">
          <ac:chgData name="Gopi U" userId="4820542927acb1bf" providerId="LiveId" clId="{172478D8-5494-471C-B60C-DD487D7977DB}" dt="2026-06-10T04:48:55.949" v="605"/>
          <ac:spMkLst>
            <pc:docMk/>
            <pc:sldMk cId="0" sldId="265"/>
            <ac:spMk id="5" creationId="{790E2C66-A346-47D8-CC9E-212BBF3991A2}"/>
          </ac:spMkLst>
        </pc:spChg>
      </pc:sldChg>
      <pc:sldChg chg="addSp modSp mod">
        <pc:chgData name="Gopi U" userId="4820542927acb1bf" providerId="LiveId" clId="{172478D8-5494-471C-B60C-DD487D7977DB}" dt="2026-06-10T04:49:03.679" v="606"/>
        <pc:sldMkLst>
          <pc:docMk/>
          <pc:sldMk cId="0" sldId="266"/>
        </pc:sldMkLst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6"/>
            <ac:spMk id="2" creationId="{00000000-0000-0000-0000-000000000000}"/>
          </ac:spMkLst>
        </pc:spChg>
        <pc:spChg chg="mod">
          <ac:chgData name="Gopi U" userId="4820542927acb1bf" providerId="LiveId" clId="{172478D8-5494-471C-B60C-DD487D7977DB}" dt="2026-06-10T04:15:34.741" v="194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Gopi U" userId="4820542927acb1bf" providerId="LiveId" clId="{172478D8-5494-471C-B60C-DD487D7977DB}" dt="2026-06-10T04:49:03.679" v="606"/>
          <ac:spMkLst>
            <pc:docMk/>
            <pc:sldMk cId="0" sldId="266"/>
            <ac:spMk id="5" creationId="{4AB71503-CB4E-6562-CDD0-61961C294B52}"/>
          </ac:spMkLst>
        </pc:spChg>
      </pc:sldChg>
      <pc:sldChg chg="addSp modSp mod">
        <pc:chgData name="Gopi U" userId="4820542927acb1bf" providerId="LiveId" clId="{172478D8-5494-471C-B60C-DD487D7977DB}" dt="2026-06-10T04:49:11.821" v="607"/>
        <pc:sldMkLst>
          <pc:docMk/>
          <pc:sldMk cId="0" sldId="267"/>
        </pc:sldMkLst>
        <pc:spChg chg="mod">
          <ac:chgData name="Gopi U" userId="4820542927acb1bf" providerId="LiveId" clId="{172478D8-5494-471C-B60C-DD487D7977DB}" dt="2026-06-10T04:01:46.272" v="68" actId="207"/>
          <ac:spMkLst>
            <pc:docMk/>
            <pc:sldMk cId="0" sldId="267"/>
            <ac:spMk id="3" creationId="{00000000-0000-0000-0000-000000000000}"/>
          </ac:spMkLst>
        </pc:spChg>
        <pc:spChg chg="add mod">
          <ac:chgData name="Gopi U" userId="4820542927acb1bf" providerId="LiveId" clId="{172478D8-5494-471C-B60C-DD487D7977DB}" dt="2026-06-10T04:49:11.821" v="607"/>
          <ac:spMkLst>
            <pc:docMk/>
            <pc:sldMk cId="0" sldId="267"/>
            <ac:spMk id="5" creationId="{FE2750EB-D34A-E612-10AA-B3A0B54DB5E2}"/>
          </ac:spMkLst>
        </pc:spChg>
      </pc:sldChg>
      <pc:sldMasterChg chg="setBg modSldLayout">
        <pc:chgData name="Gopi U" userId="4820542927acb1bf" providerId="LiveId" clId="{172478D8-5494-471C-B60C-DD487D7977DB}" dt="2026-06-10T04:55:48.147" v="634" actId="21"/>
        <pc:sldMasterMkLst>
          <pc:docMk/>
          <pc:sldMasterMk cId="2336663901" sldId="2147483732"/>
        </pc:sldMasterMkLst>
        <pc:sldLayoutChg chg="addSp delSp modSp mod setBg">
          <pc:chgData name="Gopi U" userId="4820542927acb1bf" providerId="LiveId" clId="{172478D8-5494-471C-B60C-DD487D7977DB}" dt="2026-06-10T04:55:48.147" v="634" actId="21"/>
          <pc:sldLayoutMkLst>
            <pc:docMk/>
            <pc:sldMasterMk cId="2336663901" sldId="2147483732"/>
            <pc:sldLayoutMk cId="3185242726" sldId="2147483733"/>
          </pc:sldLayoutMkLst>
          <pc:spChg chg="add mod">
            <ac:chgData name="Gopi U" userId="4820542927acb1bf" providerId="LiveId" clId="{172478D8-5494-471C-B60C-DD487D7977DB}" dt="2026-06-10T04:51:29.135" v="619" actId="14100"/>
            <ac:spMkLst>
              <pc:docMk/>
              <pc:sldMasterMk cId="2336663901" sldId="2147483732"/>
              <pc:sldLayoutMk cId="3185242726" sldId="2147483733"/>
              <ac:spMk id="9" creationId="{5EF3EF75-D6FC-29C9-B411-38F350CE8F85}"/>
            </ac:spMkLst>
          </pc:spChg>
          <pc:spChg chg="add del mod">
            <ac:chgData name="Gopi U" userId="4820542927acb1bf" providerId="LiveId" clId="{172478D8-5494-471C-B60C-DD487D7977DB}" dt="2026-06-10T04:55:18.355" v="632" actId="478"/>
            <ac:spMkLst>
              <pc:docMk/>
              <pc:sldMasterMk cId="2336663901" sldId="2147483732"/>
              <pc:sldLayoutMk cId="3185242726" sldId="2147483733"/>
              <ac:spMk id="10" creationId="{6824EFBB-2CB6-C0AA-838D-8E74C073C58B}"/>
            </ac:spMkLst>
          </pc:spChg>
          <pc:picChg chg="add del mod">
            <ac:chgData name="Gopi U" userId="4820542927acb1bf" providerId="LiveId" clId="{172478D8-5494-471C-B60C-DD487D7977DB}" dt="2026-06-10T04:55:48.147" v="634" actId="21"/>
            <ac:picMkLst>
              <pc:docMk/>
              <pc:sldMasterMk cId="2336663901" sldId="2147483732"/>
              <pc:sldLayoutMk cId="3185242726" sldId="2147483733"/>
              <ac:picMk id="8" creationId="{98BA8761-F686-E0B4-C48C-8B0556B426AD}"/>
            </ac:picMkLst>
          </pc:picChg>
        </pc:sldLayoutChg>
        <pc:sldLayoutChg chg="setBg">
          <pc:chgData name="Gopi U" userId="4820542927acb1bf" providerId="LiveId" clId="{172478D8-5494-471C-B60C-DD487D7977DB}" dt="2026-06-10T04:19:00.386" v="198"/>
          <pc:sldLayoutMkLst>
            <pc:docMk/>
            <pc:sldMasterMk cId="2336663901" sldId="2147483732"/>
            <pc:sldLayoutMk cId="4220962547" sldId="2147483734"/>
          </pc:sldLayoutMkLst>
        </pc:sldLayoutChg>
        <pc:sldLayoutChg chg="setBg">
          <pc:chgData name="Gopi U" userId="4820542927acb1bf" providerId="LiveId" clId="{172478D8-5494-471C-B60C-DD487D7977DB}" dt="2026-06-10T04:19:00.386" v="198"/>
          <pc:sldLayoutMkLst>
            <pc:docMk/>
            <pc:sldMasterMk cId="2336663901" sldId="2147483732"/>
            <pc:sldLayoutMk cId="96258121" sldId="2147483735"/>
          </pc:sldLayoutMkLst>
        </pc:sldLayoutChg>
        <pc:sldLayoutChg chg="setBg">
          <pc:chgData name="Gopi U" userId="4820542927acb1bf" providerId="LiveId" clId="{172478D8-5494-471C-B60C-DD487D7977DB}" dt="2026-06-10T04:19:00.386" v="198"/>
          <pc:sldLayoutMkLst>
            <pc:docMk/>
            <pc:sldMasterMk cId="2336663901" sldId="2147483732"/>
            <pc:sldLayoutMk cId="3106999387" sldId="2147483736"/>
          </pc:sldLayoutMkLst>
        </pc:sldLayoutChg>
        <pc:sldLayoutChg chg="setBg">
          <pc:chgData name="Gopi U" userId="4820542927acb1bf" providerId="LiveId" clId="{172478D8-5494-471C-B60C-DD487D7977DB}" dt="2026-06-10T04:19:00.386" v="198"/>
          <pc:sldLayoutMkLst>
            <pc:docMk/>
            <pc:sldMasterMk cId="2336663901" sldId="2147483732"/>
            <pc:sldLayoutMk cId="2853961788" sldId="2147483737"/>
          </pc:sldLayoutMkLst>
        </pc:sldLayoutChg>
        <pc:sldLayoutChg chg="setBg">
          <pc:chgData name="Gopi U" userId="4820542927acb1bf" providerId="LiveId" clId="{172478D8-5494-471C-B60C-DD487D7977DB}" dt="2026-06-10T04:19:00.386" v="198"/>
          <pc:sldLayoutMkLst>
            <pc:docMk/>
            <pc:sldMasterMk cId="2336663901" sldId="2147483732"/>
            <pc:sldLayoutMk cId="1933822052" sldId="2147483738"/>
          </pc:sldLayoutMkLst>
        </pc:sldLayoutChg>
        <pc:sldLayoutChg chg="setBg">
          <pc:chgData name="Gopi U" userId="4820542927acb1bf" providerId="LiveId" clId="{172478D8-5494-471C-B60C-DD487D7977DB}" dt="2026-06-10T04:19:00.386" v="198"/>
          <pc:sldLayoutMkLst>
            <pc:docMk/>
            <pc:sldMasterMk cId="2336663901" sldId="2147483732"/>
            <pc:sldLayoutMk cId="1267451534" sldId="2147483739"/>
          </pc:sldLayoutMkLst>
        </pc:sldLayoutChg>
        <pc:sldLayoutChg chg="setBg">
          <pc:chgData name="Gopi U" userId="4820542927acb1bf" providerId="LiveId" clId="{172478D8-5494-471C-B60C-DD487D7977DB}" dt="2026-06-10T04:19:00.386" v="198"/>
          <pc:sldLayoutMkLst>
            <pc:docMk/>
            <pc:sldMasterMk cId="2336663901" sldId="2147483732"/>
            <pc:sldLayoutMk cId="1454777798" sldId="2147483740"/>
          </pc:sldLayoutMkLst>
        </pc:sldLayoutChg>
        <pc:sldLayoutChg chg="setBg">
          <pc:chgData name="Gopi U" userId="4820542927acb1bf" providerId="LiveId" clId="{172478D8-5494-471C-B60C-DD487D7977DB}" dt="2026-06-10T04:19:00.386" v="198"/>
          <pc:sldLayoutMkLst>
            <pc:docMk/>
            <pc:sldMasterMk cId="2336663901" sldId="2147483732"/>
            <pc:sldLayoutMk cId="3264592300" sldId="2147483741"/>
          </pc:sldLayoutMkLst>
        </pc:sldLayoutChg>
        <pc:sldLayoutChg chg="setBg">
          <pc:chgData name="Gopi U" userId="4820542927acb1bf" providerId="LiveId" clId="{172478D8-5494-471C-B60C-DD487D7977DB}" dt="2026-06-10T04:19:00.386" v="198"/>
          <pc:sldLayoutMkLst>
            <pc:docMk/>
            <pc:sldMasterMk cId="2336663901" sldId="2147483732"/>
            <pc:sldLayoutMk cId="2529880679" sldId="2147483742"/>
          </pc:sldLayoutMkLst>
        </pc:sldLayoutChg>
        <pc:sldLayoutChg chg="setBg">
          <pc:chgData name="Gopi U" userId="4820542927acb1bf" providerId="LiveId" clId="{172478D8-5494-471C-B60C-DD487D7977DB}" dt="2026-06-10T04:19:00.386" v="198"/>
          <pc:sldLayoutMkLst>
            <pc:docMk/>
            <pc:sldMasterMk cId="2336663901" sldId="2147483732"/>
            <pc:sldLayoutMk cId="3053561534" sldId="214748374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886826-FC75-480D-8155-D752C072DD4A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33C2C-97D3-4C28-98BB-310BF4F05E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3020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603" y="1122363"/>
            <a:ext cx="9141619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3603" y="3602038"/>
            <a:ext cx="9141619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E1BDE-23CB-4BC3-9D3A-7F7146A86BC5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242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5DDD2-C819-4658-9FD9-6F1E3B2DFA73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962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633" y="1709739"/>
            <a:ext cx="10512862" cy="2852737"/>
          </a:xfrm>
        </p:spPr>
        <p:txBody>
          <a:bodyPr anchor="b"/>
          <a:lstStyle>
            <a:lvl1pPr>
              <a:defRPr sz="59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633" y="4589464"/>
            <a:ext cx="10512862" cy="1500187"/>
          </a:xfrm>
        </p:spPr>
        <p:txBody>
          <a:bodyPr/>
          <a:lstStyle>
            <a:lvl1pPr marL="0" indent="0">
              <a:buNone/>
              <a:defRPr sz="2399">
                <a:solidFill>
                  <a:schemeClr val="tx1">
                    <a:tint val="82000"/>
                  </a:schemeClr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82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82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A1B0A-55DB-4C83-9DDE-1C4D8DA8E719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58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7982" y="1825625"/>
            <a:ext cx="518025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592" y="1825625"/>
            <a:ext cx="518025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E9682-BC6F-49D3-8EBB-EBC0E694411C}" type="datetime1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999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569" y="365126"/>
            <a:ext cx="105128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570" y="1681163"/>
            <a:ext cx="5156444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570" y="2505075"/>
            <a:ext cx="515644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0593" y="1681163"/>
            <a:ext cx="5181838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593" y="2505075"/>
            <a:ext cx="518183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559D6-F1AA-4628-882E-E5B24F8EA1A1}" type="datetime1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961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E116B-E52E-471A-99AC-A666EF9D5668}" type="datetime1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822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EFCC6-259E-4D47-884A-2488E65C4929}" type="datetime1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451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570" y="457200"/>
            <a:ext cx="3931213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838" y="987426"/>
            <a:ext cx="6170593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399"/>
            </a:lvl3pPr>
            <a:lvl4pPr>
              <a:defRPr sz="1999"/>
            </a:lvl4pPr>
            <a:lvl5pPr>
              <a:defRPr sz="19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570" y="2057400"/>
            <a:ext cx="393121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DE1EF-672A-47C9-AA45-10AFD91E9E26}" type="datetime1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777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570" y="457200"/>
            <a:ext cx="3931213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1838" y="987426"/>
            <a:ext cx="6170593" cy="4873625"/>
          </a:xfrm>
        </p:spPr>
        <p:txBody>
          <a:bodyPr anchor="t"/>
          <a:lstStyle>
            <a:lvl1pPr marL="0" indent="0">
              <a:buNone/>
              <a:defRPr sz="3199"/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570" y="2057400"/>
            <a:ext cx="393121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E0B1E-0265-4A1F-BC7A-6348E5ABEDCD}" type="datetime1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923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8FD60-2122-473E-BECF-4876D2F9D457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88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2628" y="365125"/>
            <a:ext cx="262821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7982" y="365125"/>
            <a:ext cx="7732286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F0CA-CEAC-4CA2-8617-9284908174E6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561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7982" y="365126"/>
            <a:ext cx="105128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7982" y="1825625"/>
            <a:ext cx="10512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7982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38131C-9088-4063-8E42-7BF7D1259B13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7549" y="6356351"/>
            <a:ext cx="4113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08357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663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sldNum="0" hdr="0" ftr="0" dt="0"/>
  <p:txStyles>
    <p:titleStyle>
      <a:lvl1pPr algn="l" defTabSz="914126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7413" y="157932"/>
            <a:ext cx="9225116" cy="2565604"/>
          </a:xfrm>
        </p:spPr>
        <p:txBody>
          <a:bodyPr>
            <a:normAutofit/>
          </a:bodyPr>
          <a:lstStyle/>
          <a:p>
            <a:r>
              <a:rPr sz="6000" b="1" u="sng" dirty="0" err="1">
                <a:solidFill>
                  <a:srgbClr val="0070C0"/>
                </a:solidFill>
              </a:rPr>
              <a:t>Bluestoc</a:t>
            </a:r>
            <a:r>
              <a:rPr lang="en-IN" sz="6000" b="1" u="sng" dirty="0">
                <a:solidFill>
                  <a:srgbClr val="0070C0"/>
                </a:solidFill>
              </a:rPr>
              <a:t>k</a:t>
            </a:r>
            <a:r>
              <a:rPr lang="en-IN" sz="6000" b="1" dirty="0">
                <a:solidFill>
                  <a:srgbClr val="0070C0"/>
                </a:solidFill>
              </a:rPr>
              <a:t> </a:t>
            </a:r>
            <a:r>
              <a:rPr sz="6000" b="1" dirty="0">
                <a:solidFill>
                  <a:srgbClr val="0070C0"/>
                </a:solidFill>
              </a:rPr>
              <a:t>Fintech</a:t>
            </a:r>
            <a:r>
              <a:rPr lang="en-IN" sz="6000" b="1" dirty="0">
                <a:solidFill>
                  <a:srgbClr val="0070C0"/>
                </a:solidFill>
              </a:rPr>
              <a:t> </a:t>
            </a:r>
            <a:endParaRPr sz="6000" b="1" dirty="0">
              <a:solidFill>
                <a:srgbClr val="0070C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3603" y="3234814"/>
            <a:ext cx="9141619" cy="1288026"/>
          </a:xfrm>
        </p:spPr>
        <p:txBody>
          <a:bodyPr/>
          <a:lstStyle/>
          <a:p>
            <a:r>
              <a:rPr dirty="0"/>
              <a:t>Mutual Fund Analytics Platform</a:t>
            </a:r>
          </a:p>
          <a:p>
            <a:r>
              <a:rPr dirty="0"/>
              <a:t>Capstone Project | June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7412" y="4247535"/>
            <a:ext cx="88809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B4F9B"/>
                </a:solidFill>
              </a:defRPr>
            </a:pPr>
            <a:r>
              <a:rPr dirty="0" err="1"/>
              <a:t>Upputholla</a:t>
            </a:r>
            <a:r>
              <a:rPr dirty="0"/>
              <a:t> Gopi | Data Analyst Intern | VVIT Guntur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C2CB761-2C09-9768-EED9-B7F7BE4C4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1130" y="157932"/>
            <a:ext cx="2988183" cy="378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97310"/>
          </a:xfrm>
        </p:spPr>
        <p:txBody>
          <a:bodyPr>
            <a:normAutofit fontScale="90000"/>
          </a:bodyPr>
          <a:lstStyle/>
          <a:p>
            <a:r>
              <a:rPr sz="2800" b="1" dirty="0">
                <a:solidFill>
                  <a:srgbClr val="1B4F9B"/>
                </a:solidFill>
              </a:rPr>
              <a:t>Problem &amp;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9045" y="616974"/>
            <a:ext cx="8229600" cy="4525963"/>
          </a:xfrm>
        </p:spPr>
        <p:txBody>
          <a:bodyPr>
            <a:normAutofit fontScale="85000" lnSpcReduction="20000"/>
          </a:bodyPr>
          <a:lstStyle/>
          <a:p>
            <a:r>
              <a:rPr u="sng" dirty="0">
                <a:solidFill>
                  <a:srgbClr val="FF0000"/>
                </a:solidFill>
              </a:rPr>
              <a:t>PROBLEMS</a:t>
            </a:r>
            <a:r>
              <a:rPr dirty="0"/>
              <a:t>:</a:t>
            </a:r>
          </a:p>
          <a:p>
            <a:r>
              <a:rPr dirty="0"/>
              <a:t>• Data Fragmentation — NAV, AUM, SIP data in different formats</a:t>
            </a:r>
          </a:p>
          <a:p>
            <a:r>
              <a:rPr dirty="0"/>
              <a:t>• No unified platform for risk-adjusted fund comparison</a:t>
            </a:r>
          </a:p>
          <a:p>
            <a:r>
              <a:rPr dirty="0"/>
              <a:t>• Retail investors cannot track benchmark performance</a:t>
            </a:r>
          </a:p>
          <a:p>
            <a:r>
              <a:rPr dirty="0"/>
              <a:t>• Static PDF reports — no real-time insights</a:t>
            </a:r>
          </a:p>
          <a:p>
            <a:endParaRPr dirty="0"/>
          </a:p>
          <a:p>
            <a:r>
              <a:rPr u="sng" dirty="0">
                <a:solidFill>
                  <a:srgbClr val="FF0000"/>
                </a:solidFill>
              </a:rPr>
              <a:t>OBJECTIVES</a:t>
            </a:r>
            <a:r>
              <a:rPr dirty="0"/>
              <a:t>:</a:t>
            </a:r>
          </a:p>
          <a:p>
            <a:r>
              <a:rPr dirty="0"/>
              <a:t>• Build automated ETL pipeline from AMFI public data</a:t>
            </a:r>
          </a:p>
          <a:p>
            <a:r>
              <a:rPr dirty="0"/>
              <a:t>• Design normalized SQL database (star schema)</a:t>
            </a:r>
          </a:p>
          <a:p>
            <a:r>
              <a:rPr dirty="0"/>
              <a:t>• Compute Sharpe, Alpha, Beta, </a:t>
            </a:r>
            <a:r>
              <a:rPr dirty="0" err="1"/>
              <a:t>VaR</a:t>
            </a:r>
            <a:r>
              <a:rPr dirty="0"/>
              <a:t> for 40 funds</a:t>
            </a:r>
          </a:p>
          <a:p>
            <a:r>
              <a:rPr dirty="0"/>
              <a:t>• Build interactive Power BI dashboard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87D9DF-CF9D-7453-12C7-624237032AE4}"/>
              </a:ext>
            </a:extLst>
          </p:cNvPr>
          <p:cNvSpPr/>
          <p:nvPr/>
        </p:nvSpPr>
        <p:spPr>
          <a:xfrm>
            <a:off x="3828947" y="6411248"/>
            <a:ext cx="5289755" cy="446752"/>
          </a:xfrm>
          <a:prstGeom prst="rect">
            <a:avLst/>
          </a:prstGeom>
          <a:solidFill>
            <a:srgbClr val="0070C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2">
                    <a:alpha val="21000"/>
                  </a:schemeClr>
                </a:solidFill>
              </a:rPr>
              <a:t>📈 Data Analytics | 📊 Insights | 💹 Mutual Funds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69259"/>
          </a:xfrm>
        </p:spPr>
        <p:txBody>
          <a:bodyPr/>
          <a:lstStyle/>
          <a:p>
            <a:r>
              <a:rPr sz="2800" b="1" dirty="0">
                <a:solidFill>
                  <a:srgbClr val="1B4F9B"/>
                </a:solidFill>
              </a:rPr>
              <a:t>Data Sources &amp;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u="sng" dirty="0">
                <a:solidFill>
                  <a:srgbClr val="FF0000"/>
                </a:solidFill>
              </a:rPr>
              <a:t>DATA SOURCES</a:t>
            </a:r>
            <a:r>
              <a:rPr dirty="0"/>
              <a:t>:</a:t>
            </a:r>
          </a:p>
          <a:p>
            <a:r>
              <a:rPr dirty="0"/>
              <a:t>• AMFI India — NAV, AUM, SIP, Folio data</a:t>
            </a:r>
          </a:p>
          <a:p>
            <a:r>
              <a:rPr dirty="0"/>
              <a:t>• mfapi.in — Live NAV API (no auth required)</a:t>
            </a:r>
          </a:p>
          <a:p>
            <a:r>
              <a:rPr dirty="0"/>
              <a:t>• NSE/BSE — Benchmark index prices</a:t>
            </a:r>
          </a:p>
          <a:p>
            <a:endParaRPr dirty="0"/>
          </a:p>
          <a:p>
            <a:r>
              <a:rPr u="sng" dirty="0">
                <a:solidFill>
                  <a:srgbClr val="FF0000"/>
                </a:solidFill>
              </a:rPr>
              <a:t>SCALE</a:t>
            </a:r>
            <a:r>
              <a:rPr dirty="0"/>
              <a:t>:</a:t>
            </a:r>
          </a:p>
          <a:p>
            <a:r>
              <a:rPr dirty="0"/>
              <a:t>• 40 Mutual Fund Schemes across 10 AMCs</a:t>
            </a:r>
          </a:p>
          <a:p>
            <a:r>
              <a:rPr dirty="0"/>
              <a:t>• 46,000+ Daily NAV records (2022-2026)</a:t>
            </a:r>
          </a:p>
          <a:p>
            <a:r>
              <a:rPr dirty="0"/>
              <a:t>• 32,000+ Investor Transactions</a:t>
            </a:r>
          </a:p>
          <a:p>
            <a:r>
              <a:rPr dirty="0"/>
              <a:t>• 8,050 Benchmark Index records</a:t>
            </a:r>
          </a:p>
          <a:p>
            <a:r>
              <a:rPr dirty="0"/>
              <a:t>• Total: 87,000+ rows of financial data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87B34C-F1A2-D93B-830C-DB70EE3AE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374" y="6330356"/>
            <a:ext cx="5310076" cy="5060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B4F9B"/>
                </a:solidFill>
              </a:rP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u="sng" dirty="0">
                <a:solidFill>
                  <a:srgbClr val="FF0000"/>
                </a:solidFill>
              </a:rPr>
              <a:t>ETL PIPELINE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EXTRACT → AMFI APIs, mfapi.in, CSV datasets</a:t>
            </a:r>
          </a:p>
          <a:p>
            <a:r>
              <a:rPr dirty="0"/>
              <a:t>      ↓</a:t>
            </a:r>
          </a:p>
          <a:p>
            <a:r>
              <a:rPr dirty="0"/>
              <a:t>TRANSFORM → Python/Pandas: clean, validate, compute metrics</a:t>
            </a:r>
          </a:p>
          <a:p>
            <a:r>
              <a:rPr dirty="0"/>
              <a:t>      ↓</a:t>
            </a:r>
          </a:p>
          <a:p>
            <a:r>
              <a:rPr dirty="0"/>
              <a:t>LOAD → SQLite database (5-table star schema)</a:t>
            </a:r>
          </a:p>
          <a:p>
            <a:r>
              <a:rPr dirty="0"/>
              <a:t>      ↓</a:t>
            </a:r>
          </a:p>
          <a:p>
            <a:r>
              <a:rPr dirty="0"/>
              <a:t>ANALYSE → </a:t>
            </a:r>
            <a:r>
              <a:rPr dirty="0" err="1"/>
              <a:t>Jupyter</a:t>
            </a:r>
            <a:r>
              <a:rPr dirty="0"/>
              <a:t> notebooks: EDA, performance metrics</a:t>
            </a:r>
          </a:p>
          <a:p>
            <a:r>
              <a:rPr dirty="0"/>
              <a:t>      ↓</a:t>
            </a:r>
          </a:p>
          <a:p>
            <a:r>
              <a:rPr dirty="0"/>
              <a:t>VISUALISE → Power BI: 4-page interactive dashboard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FCA42C-65CD-7D5A-1A57-F094EB263203}"/>
              </a:ext>
            </a:extLst>
          </p:cNvPr>
          <p:cNvSpPr/>
          <p:nvPr/>
        </p:nvSpPr>
        <p:spPr>
          <a:xfrm>
            <a:off x="3828947" y="6411248"/>
            <a:ext cx="5289755" cy="446752"/>
          </a:xfrm>
          <a:prstGeom prst="rect">
            <a:avLst/>
          </a:prstGeom>
          <a:solidFill>
            <a:srgbClr val="0070C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2">
                    <a:alpha val="21000"/>
                  </a:schemeClr>
                </a:solidFill>
              </a:rPr>
              <a:t>📈 Data Analytics | 📊 Insights | 💹 Mutual Funds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B4F9B"/>
                </a:solidFill>
              </a:rPr>
              <a:t>EDA Highlights — Market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u="sng" dirty="0">
                <a:solidFill>
                  <a:srgbClr val="FF0000"/>
                </a:solidFill>
              </a:rPr>
              <a:t>KEY FINDINGS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📈 NAV Trend: All 40 funds grew consistently 2022-2026</a:t>
            </a:r>
          </a:p>
          <a:p>
            <a:r>
              <a:rPr dirty="0"/>
              <a:t>   Strong 2023 bull run, minor 2024 corrections</a:t>
            </a:r>
          </a:p>
          <a:p>
            <a:endParaRPr dirty="0"/>
          </a:p>
          <a:p>
            <a:r>
              <a:rPr dirty="0"/>
              <a:t>🏦 SBI Dominance: Rs.12.5 Lakh Crore AUM</a:t>
            </a:r>
          </a:p>
          <a:p>
            <a:r>
              <a:rPr dirty="0"/>
              <a:t>   Nearly 2x the second-largest AMC (ICICI Prudential)</a:t>
            </a:r>
          </a:p>
          <a:p>
            <a:endParaRPr dirty="0"/>
          </a:p>
          <a:p>
            <a:r>
              <a:rPr dirty="0"/>
              <a:t>💰 SIP All-time High: Rs.31,002 Crore in Dec 2025</a:t>
            </a:r>
          </a:p>
          <a:p>
            <a:r>
              <a:rPr dirty="0"/>
              <a:t>   Reflects India's growing retail investment culture</a:t>
            </a:r>
          </a:p>
          <a:p>
            <a:endParaRPr dirty="0"/>
          </a:p>
          <a:p>
            <a:r>
              <a:rPr dirty="0"/>
              <a:t>📊 Folio Growth: 13.26 Cr → 26.12 Cr (97% growth in 4 years)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33F8BB-6E07-DB99-DEFD-858D532397BF}"/>
              </a:ext>
            </a:extLst>
          </p:cNvPr>
          <p:cNvSpPr/>
          <p:nvPr/>
        </p:nvSpPr>
        <p:spPr>
          <a:xfrm>
            <a:off x="3828947" y="6411248"/>
            <a:ext cx="5289755" cy="446752"/>
          </a:xfrm>
          <a:prstGeom prst="rect">
            <a:avLst/>
          </a:prstGeom>
          <a:solidFill>
            <a:srgbClr val="0070C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2">
                    <a:alpha val="21000"/>
                  </a:schemeClr>
                </a:solidFill>
              </a:rPr>
              <a:t>📈 Data Analytics | 📊 Insights | 💹 Mutual Funds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B4F9B"/>
                </a:solidFill>
              </a:rPr>
              <a:t>EDA Highlights — Investor Behaviour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u="sng" dirty="0">
                <a:solidFill>
                  <a:srgbClr val="FF0000"/>
                </a:solidFill>
              </a:rPr>
              <a:t>INVESTOR INSIGHTS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👥 Demographics: 26-35 age group = largest investor segment</a:t>
            </a:r>
          </a:p>
          <a:p>
            <a:r>
              <a:rPr dirty="0"/>
              <a:t>   Young professionals driving MF growth in India</a:t>
            </a:r>
          </a:p>
          <a:p>
            <a:endParaRPr dirty="0"/>
          </a:p>
          <a:p>
            <a:r>
              <a:rPr dirty="0"/>
              <a:t>🗺️ Geography: Maharashtra &amp; Karnataka lead investments</a:t>
            </a:r>
          </a:p>
          <a:p>
            <a:r>
              <a:rPr dirty="0"/>
              <a:t>   T30 cities = 70% of total AUM</a:t>
            </a:r>
          </a:p>
          <a:p>
            <a:endParaRPr dirty="0"/>
          </a:p>
          <a:p>
            <a:r>
              <a:rPr dirty="0"/>
              <a:t>⚖️ Gender Gap: Male 65% vs Female 35% investors</a:t>
            </a:r>
          </a:p>
          <a:p>
            <a:r>
              <a:rPr dirty="0"/>
              <a:t>   Opportunity for women-focused MF campaigns</a:t>
            </a:r>
          </a:p>
          <a:p>
            <a:endParaRPr dirty="0"/>
          </a:p>
          <a:p>
            <a:r>
              <a:rPr dirty="0"/>
              <a:t>🏙️ B30 Growth: Beyond Top-30 cities growing faster in SIPs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921527-8882-03E8-52F3-748F476B373F}"/>
              </a:ext>
            </a:extLst>
          </p:cNvPr>
          <p:cNvSpPr/>
          <p:nvPr/>
        </p:nvSpPr>
        <p:spPr>
          <a:xfrm>
            <a:off x="3828947" y="6411248"/>
            <a:ext cx="5289755" cy="446752"/>
          </a:xfrm>
          <a:prstGeom prst="rect">
            <a:avLst/>
          </a:prstGeom>
          <a:solidFill>
            <a:srgbClr val="0070C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2">
                    <a:alpha val="21000"/>
                  </a:schemeClr>
                </a:solidFill>
              </a:rPr>
              <a:t>📈 Data Analytics | 📊 Insights | 💹 Mutual Funds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B4F9B"/>
                </a:solidFill>
              </a:rPr>
              <a:t>Performance Metrics —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u="sng" dirty="0">
                <a:solidFill>
                  <a:srgbClr val="FF0000"/>
                </a:solidFill>
              </a:rPr>
              <a:t>METRICS COMPUTED FOR ALL 40 FUNDS:</a:t>
            </a:r>
          </a:p>
          <a:p>
            <a:endParaRPr u="sng" dirty="0">
              <a:solidFill>
                <a:srgbClr val="FF0000"/>
              </a:solidFill>
            </a:endParaRPr>
          </a:p>
          <a:p>
            <a:r>
              <a:rPr dirty="0"/>
              <a:t>• CAGR (1yr, 3yr, 5yr) — </a:t>
            </a:r>
            <a:r>
              <a:rPr dirty="0" err="1"/>
              <a:t>Annualised</a:t>
            </a:r>
            <a:r>
              <a:rPr dirty="0"/>
              <a:t> compound returns</a:t>
            </a:r>
          </a:p>
          <a:p>
            <a:r>
              <a:rPr dirty="0"/>
              <a:t>• Sharpe Ratio — Risk-adjusted return vs RBI repo rate (6.5%)</a:t>
            </a:r>
          </a:p>
          <a:p>
            <a:r>
              <a:rPr dirty="0"/>
              <a:t>• Sortino Ratio — </a:t>
            </a:r>
            <a:r>
              <a:rPr dirty="0" err="1"/>
              <a:t>Penalises</a:t>
            </a:r>
            <a:r>
              <a:rPr dirty="0"/>
              <a:t> only downside volatility</a:t>
            </a:r>
          </a:p>
          <a:p>
            <a:r>
              <a:rPr dirty="0"/>
              <a:t>• Alpha &amp; Beta — OLS regression vs Nifty 100 benchmark</a:t>
            </a:r>
          </a:p>
          <a:p>
            <a:r>
              <a:rPr dirty="0"/>
              <a:t>• Max Drawdown — Worst peak-to-trough decline</a:t>
            </a:r>
          </a:p>
          <a:p>
            <a:r>
              <a:rPr dirty="0"/>
              <a:t>• </a:t>
            </a:r>
            <a:r>
              <a:rPr dirty="0" err="1"/>
              <a:t>VaR</a:t>
            </a:r>
            <a:r>
              <a:rPr dirty="0"/>
              <a:t> (95%) — Daily loss threshold at 95% confidence</a:t>
            </a:r>
          </a:p>
          <a:p>
            <a:r>
              <a:rPr dirty="0"/>
              <a:t>• CVaR — Expected loss beyond </a:t>
            </a:r>
            <a:r>
              <a:rPr dirty="0" err="1"/>
              <a:t>VaR</a:t>
            </a:r>
            <a:r>
              <a:rPr dirty="0"/>
              <a:t> threshold</a:t>
            </a:r>
          </a:p>
          <a:p>
            <a:r>
              <a:rPr dirty="0"/>
              <a:t>• Tracking Error — Std dev of fund vs benchmark returns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A1B8-7E84-9783-3F30-C8082519E1FA}"/>
              </a:ext>
            </a:extLst>
          </p:cNvPr>
          <p:cNvSpPr/>
          <p:nvPr/>
        </p:nvSpPr>
        <p:spPr>
          <a:xfrm>
            <a:off x="3828947" y="6411248"/>
            <a:ext cx="5289755" cy="446752"/>
          </a:xfrm>
          <a:prstGeom prst="rect">
            <a:avLst/>
          </a:prstGeom>
          <a:solidFill>
            <a:srgbClr val="0070C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2">
                    <a:alpha val="21000"/>
                  </a:schemeClr>
                </a:solidFill>
              </a:rPr>
              <a:t>📈 Data Analytics | 📊 Insights | 💹 Mutual Funds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B4F9B"/>
                </a:solidFill>
              </a:rPr>
              <a:t>Performance Analytics —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u="sng" dirty="0">
                <a:solidFill>
                  <a:srgbClr val="FF0000"/>
                </a:solidFill>
              </a:rPr>
              <a:t>FUND SCORECARD </a:t>
            </a:r>
            <a:r>
              <a:rPr dirty="0"/>
              <a:t>(Composite 0-100 Score):</a:t>
            </a:r>
          </a:p>
          <a:p>
            <a:r>
              <a:rPr dirty="0"/>
              <a:t>Weighted: 30% Return + 25% Sharpe + 20% Alpha + 15% Expense + 10% Max DD</a:t>
            </a:r>
          </a:p>
          <a:p>
            <a:endParaRPr dirty="0"/>
          </a:p>
          <a:p>
            <a:r>
              <a:rPr dirty="0"/>
              <a:t>TOP FINDINGS:</a:t>
            </a:r>
          </a:p>
          <a:p>
            <a:r>
              <a:rPr dirty="0"/>
              <a:t>• Funds with Sharpe &gt; 1 consistently outperform benchmark</a:t>
            </a:r>
          </a:p>
          <a:p>
            <a:r>
              <a:rPr dirty="0"/>
              <a:t>• Large cap funds show Beta close to 1.0 (market-tracking)</a:t>
            </a:r>
          </a:p>
          <a:p>
            <a:r>
              <a:rPr dirty="0"/>
              <a:t>• Small/Mid cap funds have higher Alpha but higher </a:t>
            </a:r>
            <a:r>
              <a:rPr dirty="0" err="1"/>
              <a:t>VaR</a:t>
            </a:r>
            <a:endParaRPr dirty="0"/>
          </a:p>
          <a:p>
            <a:r>
              <a:rPr dirty="0"/>
              <a:t>• Liquid funds show lowest </a:t>
            </a:r>
            <a:r>
              <a:rPr dirty="0" err="1"/>
              <a:t>VaR</a:t>
            </a:r>
            <a:r>
              <a:rPr dirty="0"/>
              <a:t> — best for capital preservation</a:t>
            </a:r>
          </a:p>
          <a:p>
            <a:r>
              <a:rPr dirty="0"/>
              <a:t>• High HHI funds concentrated in Consumer Goods &amp; IT sectors</a:t>
            </a:r>
          </a:p>
          <a:p>
            <a:endParaRPr dirty="0"/>
          </a:p>
          <a:p>
            <a:r>
              <a:rPr dirty="0"/>
              <a:t>RISK INSIGHTS:</a:t>
            </a:r>
          </a:p>
          <a:p>
            <a:r>
              <a:rPr dirty="0"/>
              <a:t>• Rolling Sharpe declined in 2024 — market-wide risk increase</a:t>
            </a:r>
          </a:p>
          <a:p>
            <a:r>
              <a:rPr dirty="0"/>
              <a:t>• At-risk SIP investors (gap &gt; 35 days) need re-engagement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9B23C8-C574-5DE5-E6C9-5974CC96C89A}"/>
              </a:ext>
            </a:extLst>
          </p:cNvPr>
          <p:cNvSpPr/>
          <p:nvPr/>
        </p:nvSpPr>
        <p:spPr>
          <a:xfrm>
            <a:off x="3828947" y="6411248"/>
            <a:ext cx="5289755" cy="446752"/>
          </a:xfrm>
          <a:prstGeom prst="rect">
            <a:avLst/>
          </a:prstGeom>
          <a:solidFill>
            <a:srgbClr val="0070C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2">
                    <a:alpha val="21000"/>
                  </a:schemeClr>
                </a:solidFill>
              </a:rPr>
              <a:t>📈 Data Analytics | 📊 Insights | 💹 Mutual Funds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B4F9B"/>
                </a:solidFill>
              </a:rPr>
              <a:t>Power BI Dashboard — Pages 1 &amp;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t>PAGE 1 — INDUSTRY OVERVIEW:</a:t>
            </a:r>
          </a:p>
          <a:p>
            <a:r>
              <a:t>• KPI Cards: Total AUM, SIP Inflow, Schemes, Folios</a:t>
            </a:r>
          </a:p>
          <a:p>
            <a:r>
              <a:t>• Bar Chart: AUM by Fund House (SBI dominance visible)</a:t>
            </a:r>
          </a:p>
          <a:p>
            <a:r>
              <a:t>• Line Chart: Monthly SIP Inflow Trend 2022-2025</a:t>
            </a:r>
          </a:p>
          <a:p>
            <a:r>
              <a:t>• Slicer: Fund Category filter</a:t>
            </a:r>
          </a:p>
          <a:p>
            <a:endParaRPr/>
          </a:p>
          <a:p>
            <a:r>
              <a:t>PAGE 2 — FUND PERFORMANCE:</a:t>
            </a:r>
          </a:p>
          <a:p>
            <a:r>
              <a:t>• Scatter Plot: Return vs Risk (daily_return vs NAV)</a:t>
            </a:r>
          </a:p>
          <a:p>
            <a:r>
              <a:t>• Fund Scorecard Table: sortable by all metrics</a:t>
            </a:r>
          </a:p>
          <a:p>
            <a:r>
              <a:t>• Fund House Slicer: filter by AMC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A8FC9D-06A0-8392-7CC6-49F2766A3237}"/>
              </a:ext>
            </a:extLst>
          </p:cNvPr>
          <p:cNvSpPr/>
          <p:nvPr/>
        </p:nvSpPr>
        <p:spPr>
          <a:xfrm>
            <a:off x="3828947" y="6411248"/>
            <a:ext cx="5289755" cy="446752"/>
          </a:xfrm>
          <a:prstGeom prst="rect">
            <a:avLst/>
          </a:prstGeom>
          <a:solidFill>
            <a:srgbClr val="0070C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2">
                    <a:alpha val="21000"/>
                  </a:schemeClr>
                </a:solidFill>
              </a:rPr>
              <a:t>📈 Data Analytics | 📊 Insights | 💹 Mutual Funds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B4F9B"/>
                </a:solidFill>
              </a:rPr>
              <a:t>Power BI Dashboard — Pages 3 &amp;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t>PAGE 3 — INVESTOR ANALYTICS:</a:t>
            </a:r>
          </a:p>
          <a:p>
            <a:r>
              <a:t>• Bar Chart: Transaction Amount by State</a:t>
            </a:r>
          </a:p>
          <a:p>
            <a:r>
              <a:t>• Donut Chart: SIP vs Lumpsum vs Redemption split</a:t>
            </a:r>
          </a:p>
          <a:p>
            <a:r>
              <a:t>• Bar Chart: Age Group vs Investment Amount</a:t>
            </a:r>
          </a:p>
          <a:p>
            <a:r>
              <a:t>• Monthly Transaction Volume Line Chart</a:t>
            </a:r>
          </a:p>
          <a:p>
            <a:r>
              <a:t>• Slicers: State, City Tier (T30/B30)</a:t>
            </a:r>
          </a:p>
          <a:p>
            <a:endParaRPr/>
          </a:p>
          <a:p>
            <a:r>
              <a:t>PAGE 4 — SIP &amp; MARKET TRENDS:</a:t>
            </a:r>
          </a:p>
          <a:p>
            <a:r>
              <a:t>• SIP Inflow Monthly Trend</a:t>
            </a:r>
          </a:p>
          <a:p>
            <a:r>
              <a:t>• Category Inflows Bar Chart</a:t>
            </a:r>
          </a:p>
          <a:p>
            <a:r>
              <a:t>• KPI: Active SIP Accounts, SIP AUM</a:t>
            </a:r>
          </a:p>
          <a:p>
            <a:r>
              <a:t>• Month Slicer for time filtering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0E2C66-A346-47D8-CC9E-212BBF3991A2}"/>
              </a:ext>
            </a:extLst>
          </p:cNvPr>
          <p:cNvSpPr/>
          <p:nvPr/>
        </p:nvSpPr>
        <p:spPr>
          <a:xfrm>
            <a:off x="3828947" y="6411248"/>
            <a:ext cx="5289755" cy="446752"/>
          </a:xfrm>
          <a:prstGeom prst="rect">
            <a:avLst/>
          </a:prstGeom>
          <a:solidFill>
            <a:srgbClr val="0070C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2">
                    <a:alpha val="21000"/>
                  </a:schemeClr>
                </a:solidFill>
              </a:rPr>
              <a:t>📈 Data Analytics | 📊 Insights | 💹 Mutual Funds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B4F9B"/>
                </a:solidFill>
              </a:rPr>
              <a:t>Key Findings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t>KEY FINDINGS:</a:t>
            </a:r>
          </a:p>
          <a:p>
            <a:r>
              <a:t>1. SBI leads industry with Rs.12.5L Cr AUM</a:t>
            </a:r>
          </a:p>
          <a:p>
            <a:r>
              <a:t>2. SIP culture growing — Rs.31,002 Cr monthly high</a:t>
            </a:r>
          </a:p>
          <a:p>
            <a:r>
              <a:t>3. Young investors (26-35) driving growth</a:t>
            </a:r>
          </a:p>
          <a:p>
            <a:r>
              <a:t>4. Large cap funds best risk-adjusted returns</a:t>
            </a:r>
          </a:p>
          <a:p>
            <a:r>
              <a:t>5. B30 cities — untapped growth opportunity</a:t>
            </a:r>
          </a:p>
          <a:p>
            <a:endParaRPr/>
          </a:p>
          <a:p>
            <a:r>
              <a:t>RECOMMENDATIONS:</a:t>
            </a:r>
          </a:p>
          <a:p>
            <a:r>
              <a:t>• Low risk investors → Liquid/Short-term Debt funds</a:t>
            </a:r>
          </a:p>
          <a:p>
            <a:r>
              <a:t>• Moderate risk → Large Cap with Sharpe &gt; 1</a:t>
            </a:r>
          </a:p>
          <a:p>
            <a:r>
              <a:t>• High risk → Mid/Small Cap with monitored drawdown</a:t>
            </a:r>
          </a:p>
          <a:p>
            <a:r>
              <a:t>• AMCs should target B30 cities for SIP campaigns</a:t>
            </a:r>
          </a:p>
          <a:p>
            <a:r>
              <a:t>• Re-engage at-risk SIP investors (gap &gt; 35 days)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B71503-CB4E-6562-CDD0-61961C294B52}"/>
              </a:ext>
            </a:extLst>
          </p:cNvPr>
          <p:cNvSpPr/>
          <p:nvPr/>
        </p:nvSpPr>
        <p:spPr>
          <a:xfrm>
            <a:off x="3828947" y="6411248"/>
            <a:ext cx="5289755" cy="446752"/>
          </a:xfrm>
          <a:prstGeom prst="rect">
            <a:avLst/>
          </a:prstGeom>
          <a:solidFill>
            <a:srgbClr val="0070C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2">
                    <a:alpha val="21000"/>
                  </a:schemeClr>
                </a:solidFill>
              </a:rPr>
              <a:t>📈 Data Analytics | 📊 Insights | 💹 Mutual Funds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37187"/>
            <a:ext cx="7772400" cy="501445"/>
          </a:xfrm>
        </p:spPr>
        <p:txBody>
          <a:bodyPr>
            <a:normAutofit fontScale="90000"/>
          </a:bodyPr>
          <a:lstStyle/>
          <a:p>
            <a:r>
              <a:rPr sz="4400" dirty="0">
                <a:solidFill>
                  <a:srgbClr val="1B4F9B"/>
                </a:solidFill>
              </a:rP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599" y="2526891"/>
            <a:ext cx="9925665" cy="3401961"/>
          </a:xfrm>
        </p:spPr>
        <p:txBody>
          <a:bodyPr>
            <a:normAutofit/>
          </a:bodyPr>
          <a:lstStyle/>
          <a:p>
            <a:r>
              <a:rPr dirty="0" err="1">
                <a:solidFill>
                  <a:schemeClr val="tx1"/>
                </a:solidFill>
                <a:latin typeface="Arial Black" panose="020B0A04020102020204" pitchFamily="34" charset="0"/>
              </a:rPr>
              <a:t>Upputholla</a:t>
            </a:r>
            <a:r>
              <a:rPr dirty="0">
                <a:solidFill>
                  <a:schemeClr val="tx1"/>
                </a:solidFill>
                <a:latin typeface="Arial Black" panose="020B0A04020102020204" pitchFamily="34" charset="0"/>
              </a:rPr>
              <a:t> Gopi</a:t>
            </a:r>
          </a:p>
          <a:p>
            <a:r>
              <a:rPr dirty="0">
                <a:solidFill>
                  <a:schemeClr val="tx1"/>
                </a:solidFill>
              </a:rPr>
              <a:t>Data Analyst Intern </a:t>
            </a:r>
            <a:r>
              <a:rPr dirty="0"/>
              <a:t>— </a:t>
            </a:r>
            <a:r>
              <a:rPr dirty="0" err="1">
                <a:solidFill>
                  <a:schemeClr val="tx2"/>
                </a:solidFill>
              </a:rPr>
              <a:t>Bluestock</a:t>
            </a:r>
            <a:r>
              <a:rPr dirty="0">
                <a:solidFill>
                  <a:schemeClr val="tx2"/>
                </a:solidFill>
              </a:rPr>
              <a:t> Fintech</a:t>
            </a:r>
          </a:p>
          <a:p>
            <a:r>
              <a:rPr dirty="0">
                <a:solidFill>
                  <a:schemeClr val="accent6"/>
                </a:solidFill>
              </a:rPr>
              <a:t>VVIT, Guntur </a:t>
            </a:r>
            <a:r>
              <a:rPr dirty="0"/>
              <a:t>| June 2026</a:t>
            </a:r>
          </a:p>
          <a:p>
            <a:r>
              <a:rPr dirty="0"/>
              <a:t>GitHub: github.com/Gopi0311/</a:t>
            </a:r>
            <a:r>
              <a:rPr dirty="0" err="1"/>
              <a:t>bluestock_mf_capstone</a:t>
            </a:r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2750EB-D34A-E612-10AA-B3A0B54DB5E2}"/>
              </a:ext>
            </a:extLst>
          </p:cNvPr>
          <p:cNvSpPr/>
          <p:nvPr/>
        </p:nvSpPr>
        <p:spPr>
          <a:xfrm>
            <a:off x="3828947" y="6411248"/>
            <a:ext cx="5289755" cy="446752"/>
          </a:xfrm>
          <a:prstGeom prst="rect">
            <a:avLst/>
          </a:prstGeom>
          <a:solidFill>
            <a:srgbClr val="0070C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2">
                    <a:alpha val="21000"/>
                  </a:schemeClr>
                </a:solidFill>
              </a:rPr>
              <a:t>📈 Data Analytics | 📊 Insights | 💹 Mutual Funds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070C0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</TotalTime>
  <Words>1028</Words>
  <Application>Microsoft Office PowerPoint</Application>
  <PresentationFormat>Custom</PresentationFormat>
  <Paragraphs>144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Arial Black</vt:lpstr>
      <vt:lpstr>Office Theme</vt:lpstr>
      <vt:lpstr>Bluestock Fintech </vt:lpstr>
      <vt:lpstr>Problem &amp; Objective</vt:lpstr>
      <vt:lpstr>Data Sources &amp; Scale</vt:lpstr>
      <vt:lpstr>System Architecture</vt:lpstr>
      <vt:lpstr>EDA Highlights — Market Trends</vt:lpstr>
      <vt:lpstr>EDA Highlights — Investor Behaviour</vt:lpstr>
      <vt:lpstr>Performance Metrics — Methodology</vt:lpstr>
      <vt:lpstr>Performance Analytics — Results</vt:lpstr>
      <vt:lpstr>Power BI Dashboard — Pages 1 &amp; 2</vt:lpstr>
      <vt:lpstr>Power BI Dashboard — Pages 3 &amp; 4</vt:lpstr>
      <vt:lpstr>Key Findings &amp; Recommendations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Gopi U</cp:lastModifiedBy>
  <cp:revision>2</cp:revision>
  <dcterms:created xsi:type="dcterms:W3CDTF">2013-01-27T09:14:16Z</dcterms:created>
  <dcterms:modified xsi:type="dcterms:W3CDTF">2026-06-10T04:56:32Z</dcterms:modified>
  <cp:category/>
</cp:coreProperties>
</file>